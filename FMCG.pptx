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0" r:id="rId4"/>
  </p:sldMasterIdLst>
  <p:notesMasterIdLst>
    <p:notesMasterId r:id="rId17"/>
  </p:notesMasterIdLst>
  <p:handoutMasterIdLst>
    <p:handoutMasterId r:id="rId18"/>
  </p:handoutMasterIdLst>
  <p:sldIdLst>
    <p:sldId id="312" r:id="rId5"/>
    <p:sldId id="304" r:id="rId6"/>
    <p:sldId id="307" r:id="rId7"/>
    <p:sldId id="281" r:id="rId8"/>
    <p:sldId id="282" r:id="rId9"/>
    <p:sldId id="314" r:id="rId10"/>
    <p:sldId id="315" r:id="rId11"/>
    <p:sldId id="317" r:id="rId12"/>
    <p:sldId id="318" r:id="rId13"/>
    <p:sldId id="319" r:id="rId14"/>
    <p:sldId id="321" r:id="rId15"/>
    <p:sldId id="297" r:id="rId16"/>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85" d="100"/>
          <a:sy n="85" d="100"/>
        </p:scale>
        <p:origin x="590" y="5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482029" y="595074"/>
            <a:ext cx="7227941" cy="3831221"/>
          </a:xfrm>
        </p:spPr>
        <p:txBody>
          <a:bodyPr anchor="ctr"/>
          <a:lstStyle/>
          <a:p>
            <a:r>
              <a:rPr lang="en-US" dirty="0"/>
              <a:t>FMCG:</a:t>
            </a:r>
            <a:br>
              <a:rPr lang="en-US" dirty="0"/>
            </a:br>
            <a:r>
              <a:rPr lang="en-US" dirty="0"/>
              <a:t>FAST MOVING CONSUMER GOODS</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690282" y="816016"/>
            <a:ext cx="6583680" cy="679149"/>
          </a:xfrm>
        </p:spPr>
        <p:txBody>
          <a:bodyPr/>
          <a:lstStyle/>
          <a:p>
            <a:r>
              <a:rPr lang="en-US" dirty="0"/>
              <a:t>WHAT IS FMCG?</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824753" y="1825327"/>
            <a:ext cx="6583680" cy="3723825"/>
          </a:xfrm>
        </p:spPr>
        <p:txBody>
          <a:bodyPr>
            <a:normAutofit fontScale="85000" lnSpcReduction="10000"/>
          </a:bodyPr>
          <a:lstStyle/>
          <a:p>
            <a:r>
              <a:rPr lang="en-US" dirty="0">
                <a:solidFill>
                  <a:schemeClr val="tx1"/>
                </a:solidFill>
              </a:rPr>
              <a:t>FMCG (Fast-Moving Consumer Goods) refers to everyday consumer products that are sold quickly and at relatively low prices. These products are used frequently and purchased regularly by consumers, such as food and beverages, personal care items, household cleaning products, and basic healthcare items. FMCG goods have a high demand, short shelf life, and strong distribution networks to ensure wide availability. </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538771" y="428917"/>
            <a:ext cx="5723586" cy="776142"/>
          </a:xfrm>
        </p:spPr>
        <p:txBody>
          <a:bodyPr/>
          <a:lstStyle/>
          <a:p>
            <a:r>
              <a:rPr lang="en-US" dirty="0"/>
              <a:t>TODAY’S AGENDA</a:t>
            </a:r>
          </a:p>
        </p:txBody>
      </p:sp>
      <p:sp>
        <p:nvSpPr>
          <p:cNvPr id="5" name="TextBox 4">
            <a:extLst>
              <a:ext uri="{FF2B5EF4-FFF2-40B4-BE49-F238E27FC236}">
                <a16:creationId xmlns:a16="http://schemas.microsoft.com/office/drawing/2014/main" id="{864FE410-1C8C-C1B6-3163-443832160E02}"/>
              </a:ext>
            </a:extLst>
          </p:cNvPr>
          <p:cNvSpPr txBox="1"/>
          <p:nvPr/>
        </p:nvSpPr>
        <p:spPr>
          <a:xfrm>
            <a:off x="735106" y="1308847"/>
            <a:ext cx="8364070" cy="3693319"/>
          </a:xfrm>
          <a:prstGeom prst="rect">
            <a:avLst/>
          </a:prstGeom>
          <a:noFill/>
        </p:spPr>
        <p:txBody>
          <a:bodyPr wrap="square" rtlCol="0">
            <a:spAutoFit/>
          </a:bodyPr>
          <a:lstStyle/>
          <a:p>
            <a:pPr marL="457200" indent="-457200">
              <a:buAutoNum type="arabicPeriod"/>
            </a:pPr>
            <a:r>
              <a:rPr lang="en-US" sz="2400" dirty="0"/>
              <a:t>Group Details</a:t>
            </a:r>
          </a:p>
          <a:p>
            <a:pPr marL="457200" indent="-457200">
              <a:buAutoNum type="arabicPeriod"/>
            </a:pPr>
            <a:r>
              <a:rPr lang="en-US" sz="2400" dirty="0"/>
              <a:t>Summary of the Project</a:t>
            </a:r>
          </a:p>
          <a:p>
            <a:pPr marL="457200" indent="-457200">
              <a:buAutoNum type="arabicPeriod"/>
            </a:pPr>
            <a:r>
              <a:rPr lang="en-US" sz="2400" dirty="0"/>
              <a:t>KPI List</a:t>
            </a:r>
            <a:endParaRPr lang="en-US" sz="2000" dirty="0"/>
          </a:p>
          <a:p>
            <a:pPr marL="457200" indent="-457200">
              <a:buAutoNum type="arabicPeriod"/>
            </a:pPr>
            <a:r>
              <a:rPr lang="en-US" sz="2000" dirty="0"/>
              <a:t>Excel Dashboard</a:t>
            </a:r>
          </a:p>
          <a:p>
            <a:pPr marL="457200" indent="-457200">
              <a:buAutoNum type="arabicPeriod"/>
            </a:pPr>
            <a:r>
              <a:rPr lang="en-US" sz="2000" dirty="0"/>
              <a:t>Power BI Dashboard</a:t>
            </a:r>
          </a:p>
          <a:p>
            <a:pPr marL="457200" indent="-457200">
              <a:buAutoNum type="arabicPeriod"/>
            </a:pPr>
            <a:r>
              <a:rPr lang="en-US" sz="2400" dirty="0"/>
              <a:t>Tableau Dashboard</a:t>
            </a:r>
          </a:p>
          <a:p>
            <a:pPr marL="457200" indent="-457200">
              <a:buAutoNum type="arabicPeriod"/>
            </a:pPr>
            <a:r>
              <a:rPr lang="en-US" sz="2400" dirty="0"/>
              <a:t>SQL Script</a:t>
            </a:r>
          </a:p>
          <a:p>
            <a:pPr marL="457200" indent="-457200">
              <a:buAutoNum type="arabicPeriod"/>
            </a:pPr>
            <a:r>
              <a:rPr lang="en-US" sz="2400" dirty="0"/>
              <a:t>Suggestions</a:t>
            </a:r>
          </a:p>
          <a:p>
            <a:pPr marL="457200" indent="-457200">
              <a:buAutoNum type="arabicPeriod"/>
            </a:pPr>
            <a:r>
              <a:rPr lang="en-US" sz="2400" dirty="0"/>
              <a:t>Key Take Away</a:t>
            </a:r>
          </a:p>
          <a:p>
            <a:endParaRPr lang="en-IN" dirty="0"/>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836445" y="694534"/>
            <a:ext cx="7258683" cy="614311"/>
          </a:xfrm>
        </p:spPr>
        <p:txBody>
          <a:bodyPr/>
          <a:lstStyle/>
          <a:p>
            <a:r>
              <a:rPr lang="en-US" dirty="0"/>
              <a:t>GROUP MEMBER DETAILS</a:t>
            </a:r>
          </a:p>
        </p:txBody>
      </p:sp>
      <p:sp>
        <p:nvSpPr>
          <p:cNvPr id="7" name="TextBox 6">
            <a:extLst>
              <a:ext uri="{FF2B5EF4-FFF2-40B4-BE49-F238E27FC236}">
                <a16:creationId xmlns:a16="http://schemas.microsoft.com/office/drawing/2014/main" id="{DBCA764E-760C-513B-FAFC-A98EE8A2FFE9}"/>
              </a:ext>
            </a:extLst>
          </p:cNvPr>
          <p:cNvSpPr txBox="1"/>
          <p:nvPr/>
        </p:nvSpPr>
        <p:spPr>
          <a:xfrm>
            <a:off x="836445" y="1872471"/>
            <a:ext cx="5540188" cy="1938992"/>
          </a:xfrm>
          <a:prstGeom prst="rect">
            <a:avLst/>
          </a:prstGeom>
          <a:noFill/>
        </p:spPr>
        <p:txBody>
          <a:bodyPr wrap="square" rtlCol="0">
            <a:spAutoFit/>
          </a:bodyPr>
          <a:lstStyle/>
          <a:p>
            <a:pPr marL="285750" indent="-285750">
              <a:buFont typeface="Wingdings" panose="05000000000000000000" pitchFamily="2" charset="2"/>
              <a:buChar char="Ø"/>
            </a:pPr>
            <a:r>
              <a:rPr lang="en-IN" sz="2400" dirty="0"/>
              <a:t>Sanika Bhagwan Chavan</a:t>
            </a:r>
          </a:p>
          <a:p>
            <a:pPr marL="285750" indent="-285750">
              <a:buFont typeface="Wingdings" panose="05000000000000000000" pitchFamily="2" charset="2"/>
              <a:buChar char="Ø"/>
            </a:pPr>
            <a:r>
              <a:rPr lang="en-IN" sz="2400" dirty="0"/>
              <a:t>Vaishnavi Narayan </a:t>
            </a:r>
            <a:r>
              <a:rPr lang="en-IN" sz="2400" dirty="0" err="1"/>
              <a:t>Jibbanwad</a:t>
            </a:r>
            <a:endParaRPr lang="en-IN" sz="2400" dirty="0"/>
          </a:p>
          <a:p>
            <a:pPr marL="285750" indent="-285750">
              <a:buFont typeface="Wingdings" panose="05000000000000000000" pitchFamily="2" charset="2"/>
              <a:buChar char="Ø"/>
            </a:pPr>
            <a:r>
              <a:rPr lang="en-IN" sz="2400" dirty="0"/>
              <a:t>Mithun N</a:t>
            </a:r>
          </a:p>
          <a:p>
            <a:pPr marL="285750" indent="-285750">
              <a:buFont typeface="Wingdings" panose="05000000000000000000" pitchFamily="2" charset="2"/>
              <a:buChar char="Ø"/>
            </a:pPr>
            <a:r>
              <a:rPr lang="en-IN" sz="2400" dirty="0"/>
              <a:t>Bhagyalaxmi </a:t>
            </a:r>
            <a:r>
              <a:rPr lang="en-IN" sz="2400" dirty="0" err="1"/>
              <a:t>Ainapur</a:t>
            </a:r>
            <a:endParaRPr lang="en-IN" sz="2400" dirty="0"/>
          </a:p>
          <a:p>
            <a:pPr marL="285750" indent="-285750">
              <a:buFont typeface="Wingdings" panose="05000000000000000000" pitchFamily="2" charset="2"/>
              <a:buChar char="Ø"/>
            </a:pPr>
            <a:r>
              <a:rPr lang="en-IN" sz="2400" dirty="0"/>
              <a:t>Sanjib Kumar Bhuyan</a:t>
            </a:r>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2967318" y="305717"/>
            <a:ext cx="7965461" cy="751556"/>
          </a:xfrm>
        </p:spPr>
        <p:txBody>
          <a:bodyPr/>
          <a:lstStyle/>
          <a:p>
            <a:r>
              <a:rPr lang="en-US" dirty="0"/>
              <a:t>SUMMARY OF THE PROJECT</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
        <p:nvSpPr>
          <p:cNvPr id="5" name="TextBox 4">
            <a:extLst>
              <a:ext uri="{FF2B5EF4-FFF2-40B4-BE49-F238E27FC236}">
                <a16:creationId xmlns:a16="http://schemas.microsoft.com/office/drawing/2014/main" id="{E664ECBF-295D-1897-F9FD-457A6C6BBBD4}"/>
              </a:ext>
            </a:extLst>
          </p:cNvPr>
          <p:cNvSpPr txBox="1"/>
          <p:nvPr/>
        </p:nvSpPr>
        <p:spPr>
          <a:xfrm>
            <a:off x="2967318" y="1416424"/>
            <a:ext cx="7965461" cy="4062651"/>
          </a:xfrm>
          <a:prstGeom prst="rect">
            <a:avLst/>
          </a:prstGeom>
          <a:noFill/>
        </p:spPr>
        <p:txBody>
          <a:bodyPr wrap="square" rtlCol="0">
            <a:spAutoFit/>
          </a:bodyPr>
          <a:lstStyle/>
          <a:p>
            <a:pPr marL="285750" indent="-285750">
              <a:buFont typeface="Arial" panose="020B0604020202020204" pitchFamily="34" charset="0"/>
              <a:buChar char="•"/>
            </a:pPr>
            <a:r>
              <a:rPr lang="en-US" sz="2000" dirty="0"/>
              <a:t>Analyzed FMCG sales data to understand overall sales performance and revenue trends.</a:t>
            </a:r>
          </a:p>
          <a:p>
            <a:pPr marL="285750" indent="-285750">
              <a:buFont typeface="Arial" panose="020B0604020202020204" pitchFamily="34" charset="0"/>
              <a:buChar char="•"/>
            </a:pPr>
            <a:r>
              <a:rPr lang="en-US" sz="2000" dirty="0"/>
              <a:t>Identified top-selling and fast-moving products based on revenue and quantity sold.</a:t>
            </a:r>
          </a:p>
          <a:p>
            <a:pPr marL="285750" indent="-285750">
              <a:buFont typeface="Arial" panose="020B0604020202020204" pitchFamily="34" charset="0"/>
              <a:buChar char="•"/>
            </a:pPr>
            <a:r>
              <a:rPr lang="en-US" sz="2000" dirty="0"/>
              <a:t>Evaluated store-level and product-level performance to compare sales contribution.</a:t>
            </a:r>
          </a:p>
          <a:p>
            <a:pPr marL="285750" indent="-285750">
              <a:buFont typeface="Arial" panose="020B0604020202020204" pitchFamily="34" charset="0"/>
              <a:buChar char="•"/>
            </a:pPr>
            <a:r>
              <a:rPr lang="en-US" sz="2000" dirty="0"/>
              <a:t>Studied customer demand and purchasing patterns across different time periods.</a:t>
            </a:r>
          </a:p>
          <a:p>
            <a:pPr marL="285750" indent="-285750">
              <a:buFont typeface="Arial" panose="020B0604020202020204" pitchFamily="34" charset="0"/>
              <a:buChar char="•"/>
            </a:pPr>
            <a:r>
              <a:rPr lang="en-US" sz="2000" dirty="0"/>
              <a:t>Calculated key KPIs such as total sales, total revenue, average sales, and product contribution %.</a:t>
            </a:r>
          </a:p>
          <a:p>
            <a:pPr marL="285750" indent="-285750">
              <a:buFont typeface="Arial" panose="020B0604020202020204" pitchFamily="34" charset="0"/>
              <a:buChar char="•"/>
            </a:pPr>
            <a:r>
              <a:rPr lang="en-US" sz="2000" dirty="0"/>
              <a:t>Generated insights to support better inventory planning, stock optimization, and business decision-making.</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5225422" y="457199"/>
            <a:ext cx="3515167" cy="592244"/>
          </a:xfrm>
        </p:spPr>
        <p:txBody>
          <a:bodyPr/>
          <a:lstStyle/>
          <a:p>
            <a:pPr algn="ctr"/>
            <a:r>
              <a:rPr lang="en-US" dirty="0"/>
              <a:t>KPI LIST</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sp>
        <p:nvSpPr>
          <p:cNvPr id="7" name="TextBox 6">
            <a:extLst>
              <a:ext uri="{FF2B5EF4-FFF2-40B4-BE49-F238E27FC236}">
                <a16:creationId xmlns:a16="http://schemas.microsoft.com/office/drawing/2014/main" id="{02517418-9210-BD4D-79EE-5A40BB84E0CB}"/>
              </a:ext>
            </a:extLst>
          </p:cNvPr>
          <p:cNvSpPr txBox="1"/>
          <p:nvPr/>
        </p:nvSpPr>
        <p:spPr>
          <a:xfrm>
            <a:off x="3756212" y="1389530"/>
            <a:ext cx="3639669"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t>Store-level Sales Performance</a:t>
            </a:r>
          </a:p>
          <a:p>
            <a:pPr marL="342900" indent="-342900">
              <a:buFont typeface="Arial" panose="020B0604020202020204" pitchFamily="34" charset="0"/>
              <a:buChar char="•"/>
            </a:pPr>
            <a:r>
              <a:rPr lang="en-US" sz="2000" dirty="0"/>
              <a:t>Top 10 Products By Revenue</a:t>
            </a:r>
          </a:p>
          <a:p>
            <a:pPr marL="342900" indent="-342900">
              <a:buFont typeface="Arial" panose="020B0604020202020204" pitchFamily="34" charset="0"/>
              <a:buChar char="•"/>
            </a:pPr>
            <a:r>
              <a:rPr lang="en-US" sz="2000" dirty="0"/>
              <a:t>SKU Contribution %</a:t>
            </a:r>
          </a:p>
          <a:p>
            <a:pPr marL="342900" indent="-342900">
              <a:buFont typeface="Arial" panose="020B0604020202020204" pitchFamily="34" charset="0"/>
              <a:buChar char="•"/>
            </a:pPr>
            <a:r>
              <a:rPr lang="en-US" sz="2000" dirty="0"/>
              <a:t>Total Sales Revenue</a:t>
            </a:r>
          </a:p>
          <a:p>
            <a:pPr marL="342900" indent="-342900">
              <a:buFont typeface="Arial" panose="020B0604020202020204" pitchFamily="34" charset="0"/>
              <a:buChar char="•"/>
            </a:pPr>
            <a:r>
              <a:rPr lang="en-US" sz="2000" dirty="0"/>
              <a:t>Total Quantity Sold</a:t>
            </a:r>
          </a:p>
          <a:p>
            <a:pPr marL="342900" indent="-342900">
              <a:buFont typeface="Arial" panose="020B0604020202020204" pitchFamily="34" charset="0"/>
              <a:buChar char="•"/>
            </a:pPr>
            <a:r>
              <a:rPr lang="en-US" sz="2000" dirty="0"/>
              <a:t>Gross Profit</a:t>
            </a:r>
          </a:p>
          <a:p>
            <a:pPr marL="342900" indent="-342900">
              <a:buFont typeface="Arial" panose="020B0604020202020204" pitchFamily="34" charset="0"/>
              <a:buChar char="•"/>
            </a:pPr>
            <a:r>
              <a:rPr lang="en-US" sz="2000" dirty="0"/>
              <a:t>Gross Margin %</a:t>
            </a:r>
            <a:endParaRPr lang="en-IN" sz="2000" dirty="0"/>
          </a:p>
        </p:txBody>
      </p:sp>
      <p:sp>
        <p:nvSpPr>
          <p:cNvPr id="8" name="TextBox 7">
            <a:extLst>
              <a:ext uri="{FF2B5EF4-FFF2-40B4-BE49-F238E27FC236}">
                <a16:creationId xmlns:a16="http://schemas.microsoft.com/office/drawing/2014/main" id="{5621D563-0DBB-F55F-CDA4-9F6F92FEAE23}"/>
              </a:ext>
            </a:extLst>
          </p:cNvPr>
          <p:cNvSpPr txBox="1"/>
          <p:nvPr/>
        </p:nvSpPr>
        <p:spPr>
          <a:xfrm>
            <a:off x="7476565" y="1389529"/>
            <a:ext cx="4428564" cy="1938992"/>
          </a:xfrm>
          <a:prstGeom prst="rect">
            <a:avLst/>
          </a:prstGeom>
          <a:noFill/>
        </p:spPr>
        <p:txBody>
          <a:bodyPr wrap="square" rtlCol="0">
            <a:spAutoFit/>
          </a:bodyPr>
          <a:lstStyle/>
          <a:p>
            <a:pPr marL="342900" indent="-342900">
              <a:buFont typeface="Arial" panose="020B0604020202020204" pitchFamily="34" charset="0"/>
              <a:buChar char="•"/>
            </a:pPr>
            <a:r>
              <a:rPr lang="en-US" sz="2000" dirty="0"/>
              <a:t>Channel Contribution</a:t>
            </a:r>
          </a:p>
          <a:p>
            <a:pPr marL="342900" indent="-342900">
              <a:buFont typeface="Arial" panose="020B0604020202020204" pitchFamily="34" charset="0"/>
              <a:buChar char="•"/>
            </a:pPr>
            <a:r>
              <a:rPr lang="en-US" sz="2000" dirty="0"/>
              <a:t>Category Contribution By Quantity</a:t>
            </a:r>
          </a:p>
          <a:p>
            <a:pPr marL="342900" indent="-342900">
              <a:buFont typeface="Arial" panose="020B0604020202020204" pitchFamily="34" charset="0"/>
              <a:buChar char="•"/>
            </a:pPr>
            <a:r>
              <a:rPr lang="en-US" sz="2000" dirty="0"/>
              <a:t>GST Contribution To Total GST By State</a:t>
            </a:r>
          </a:p>
          <a:p>
            <a:pPr marL="342900" indent="-342900">
              <a:buFont typeface="Arial" panose="020B0604020202020204" pitchFamily="34" charset="0"/>
              <a:buChar char="•"/>
            </a:pPr>
            <a:r>
              <a:rPr lang="en-US" sz="2000" dirty="0"/>
              <a:t>Payment Method</a:t>
            </a:r>
          </a:p>
          <a:p>
            <a:pPr marL="3429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2088777" y="6607"/>
            <a:ext cx="7796464" cy="596383"/>
          </a:xfrm>
        </p:spPr>
        <p:txBody>
          <a:bodyPr/>
          <a:lstStyle/>
          <a:p>
            <a:pPr algn="ctr"/>
            <a:r>
              <a:rPr lang="en-US" u="sng" dirty="0"/>
              <a:t>Excel </a:t>
            </a:r>
            <a:r>
              <a:rPr lang="en-US" u="sng" dirty="0" err="1"/>
              <a:t>DAshboaRd</a:t>
            </a:r>
            <a:endParaRPr lang="en-US" u="sng" dirty="0"/>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pic>
        <p:nvPicPr>
          <p:cNvPr id="5" name="Picture 4">
            <a:extLst>
              <a:ext uri="{FF2B5EF4-FFF2-40B4-BE49-F238E27FC236}">
                <a16:creationId xmlns:a16="http://schemas.microsoft.com/office/drawing/2014/main" id="{CDF03C4B-3981-4558-741C-8FDB81CA1ED5}"/>
              </a:ext>
            </a:extLst>
          </p:cNvPr>
          <p:cNvPicPr>
            <a:picLocks noChangeAspect="1"/>
          </p:cNvPicPr>
          <p:nvPr/>
        </p:nvPicPr>
        <p:blipFill>
          <a:blip r:embed="rId3"/>
          <a:stretch>
            <a:fillRect/>
          </a:stretch>
        </p:blipFill>
        <p:spPr>
          <a:xfrm>
            <a:off x="0" y="824752"/>
            <a:ext cx="12192000" cy="5827059"/>
          </a:xfrm>
          <a:prstGeom prst="rect">
            <a:avLst/>
          </a:prstGeom>
        </p:spPr>
      </p:pic>
    </p:spTree>
    <p:extLst>
      <p:ext uri="{BB962C8B-B14F-4D97-AF65-F5344CB8AC3E}">
        <p14:creationId xmlns:p14="http://schemas.microsoft.com/office/powerpoint/2010/main" val="2468595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1972235" y="457199"/>
            <a:ext cx="7631709" cy="613702"/>
          </a:xfrm>
        </p:spPr>
        <p:txBody>
          <a:bodyPr/>
          <a:lstStyle/>
          <a:p>
            <a:pPr algn="ctr"/>
            <a:r>
              <a:rPr lang="en-US" u="sng" dirty="0"/>
              <a:t>Tableau dashboard</a:t>
            </a:r>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pic>
        <p:nvPicPr>
          <p:cNvPr id="7" name="Picture 6">
            <a:extLst>
              <a:ext uri="{FF2B5EF4-FFF2-40B4-BE49-F238E27FC236}">
                <a16:creationId xmlns:a16="http://schemas.microsoft.com/office/drawing/2014/main" id="{F3ECF930-9708-7B0D-9167-0EC7D8C35C15}"/>
              </a:ext>
            </a:extLst>
          </p:cNvPr>
          <p:cNvPicPr>
            <a:picLocks noChangeAspect="1"/>
          </p:cNvPicPr>
          <p:nvPr/>
        </p:nvPicPr>
        <p:blipFill>
          <a:blip r:embed="rId3"/>
          <a:stretch>
            <a:fillRect/>
          </a:stretch>
        </p:blipFill>
        <p:spPr>
          <a:xfrm>
            <a:off x="457200" y="1070900"/>
            <a:ext cx="10968826" cy="5329901"/>
          </a:xfrm>
          <a:prstGeom prst="rect">
            <a:avLst/>
          </a:prstGeom>
        </p:spPr>
      </p:pic>
    </p:spTree>
    <p:extLst>
      <p:ext uri="{BB962C8B-B14F-4D97-AF65-F5344CB8AC3E}">
        <p14:creationId xmlns:p14="http://schemas.microsoft.com/office/powerpoint/2010/main" val="1941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1792940" y="-14477"/>
            <a:ext cx="7843837" cy="626738"/>
          </a:xfrm>
        </p:spPr>
        <p:txBody>
          <a:bodyPr/>
          <a:lstStyle/>
          <a:p>
            <a:pPr algn="ctr"/>
            <a:r>
              <a:rPr lang="en-US" u="sng" dirty="0"/>
              <a:t>POWER-BI DASHBOARD</a:t>
            </a:r>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dirty="0"/>
          </a:p>
        </p:txBody>
      </p:sp>
      <p:pic>
        <p:nvPicPr>
          <p:cNvPr id="9" name="Picture 8">
            <a:extLst>
              <a:ext uri="{FF2B5EF4-FFF2-40B4-BE49-F238E27FC236}">
                <a16:creationId xmlns:a16="http://schemas.microsoft.com/office/drawing/2014/main" id="{B12456EB-D15B-4F4B-CAD7-664681D4F009}"/>
              </a:ext>
            </a:extLst>
          </p:cNvPr>
          <p:cNvPicPr>
            <a:picLocks noChangeAspect="1"/>
          </p:cNvPicPr>
          <p:nvPr/>
        </p:nvPicPr>
        <p:blipFill>
          <a:blip r:embed="rId3"/>
          <a:stretch>
            <a:fillRect/>
          </a:stretch>
        </p:blipFill>
        <p:spPr>
          <a:xfrm>
            <a:off x="80682" y="612260"/>
            <a:ext cx="12048565" cy="6108579"/>
          </a:xfrm>
          <a:prstGeom prst="rect">
            <a:avLst/>
          </a:prstGeom>
        </p:spPr>
      </p:pic>
    </p:spTree>
    <p:extLst>
      <p:ext uri="{BB962C8B-B14F-4D97-AF65-F5344CB8AC3E}">
        <p14:creationId xmlns:p14="http://schemas.microsoft.com/office/powerpoint/2010/main" val="4072101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658140" y="33616"/>
            <a:ext cx="9879437" cy="560295"/>
          </a:xfrm>
        </p:spPr>
        <p:txBody>
          <a:bodyPr/>
          <a:lstStyle/>
          <a:p>
            <a:pPr algn="ctr"/>
            <a:r>
              <a:rPr lang="en-US" dirty="0"/>
              <a:t>MY SQL SCRIPT FILE</a:t>
            </a: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673355"/>
          </a:xfrm>
        </p:spPr>
        <p:txBody>
          <a:bodyPr/>
          <a:lstStyle/>
          <a:p>
            <a:fld id="{48F63A3B-78C7-47BE-AE5E-E10140E04643}" type="slidenum">
              <a:rPr lang="en-US" smtClean="0"/>
              <a:pPr/>
              <a:t>10</a:t>
            </a:fld>
            <a:endParaRPr lang="en-US" dirty="0"/>
          </a:p>
        </p:txBody>
      </p:sp>
      <p:pic>
        <p:nvPicPr>
          <p:cNvPr id="4" name="Picture 3">
            <a:extLst>
              <a:ext uri="{FF2B5EF4-FFF2-40B4-BE49-F238E27FC236}">
                <a16:creationId xmlns:a16="http://schemas.microsoft.com/office/drawing/2014/main" id="{9DC6B366-5871-5C47-5A71-A7EAD832561E}"/>
              </a:ext>
            </a:extLst>
          </p:cNvPr>
          <p:cNvPicPr>
            <a:picLocks noChangeAspect="1"/>
          </p:cNvPicPr>
          <p:nvPr/>
        </p:nvPicPr>
        <p:blipFill>
          <a:blip r:embed="rId3"/>
          <a:stretch>
            <a:fillRect/>
          </a:stretch>
        </p:blipFill>
        <p:spPr>
          <a:xfrm>
            <a:off x="349340" y="700248"/>
            <a:ext cx="5504613" cy="3118717"/>
          </a:xfrm>
          <a:prstGeom prst="rect">
            <a:avLst/>
          </a:prstGeom>
        </p:spPr>
      </p:pic>
      <p:pic>
        <p:nvPicPr>
          <p:cNvPr id="9" name="Picture 8">
            <a:extLst>
              <a:ext uri="{FF2B5EF4-FFF2-40B4-BE49-F238E27FC236}">
                <a16:creationId xmlns:a16="http://schemas.microsoft.com/office/drawing/2014/main" id="{EBE141F4-C938-7E70-4F53-698463B3F32C}"/>
              </a:ext>
            </a:extLst>
          </p:cNvPr>
          <p:cNvPicPr>
            <a:picLocks noChangeAspect="1"/>
          </p:cNvPicPr>
          <p:nvPr/>
        </p:nvPicPr>
        <p:blipFill>
          <a:blip r:embed="rId4"/>
          <a:stretch>
            <a:fillRect/>
          </a:stretch>
        </p:blipFill>
        <p:spPr>
          <a:xfrm>
            <a:off x="5774403" y="700247"/>
            <a:ext cx="5763174" cy="3118717"/>
          </a:xfrm>
          <a:prstGeom prst="rect">
            <a:avLst/>
          </a:prstGeom>
        </p:spPr>
      </p:pic>
      <p:pic>
        <p:nvPicPr>
          <p:cNvPr id="11" name="Picture 10">
            <a:extLst>
              <a:ext uri="{FF2B5EF4-FFF2-40B4-BE49-F238E27FC236}">
                <a16:creationId xmlns:a16="http://schemas.microsoft.com/office/drawing/2014/main" id="{8E09E423-D536-F437-1529-1BFB55814EAD}"/>
              </a:ext>
            </a:extLst>
          </p:cNvPr>
          <p:cNvPicPr>
            <a:picLocks noChangeAspect="1"/>
          </p:cNvPicPr>
          <p:nvPr/>
        </p:nvPicPr>
        <p:blipFill>
          <a:blip r:embed="rId5"/>
          <a:stretch>
            <a:fillRect/>
          </a:stretch>
        </p:blipFill>
        <p:spPr>
          <a:xfrm>
            <a:off x="349340" y="3818965"/>
            <a:ext cx="5425063" cy="2823883"/>
          </a:xfrm>
          <a:prstGeom prst="rect">
            <a:avLst/>
          </a:prstGeom>
        </p:spPr>
      </p:pic>
      <p:pic>
        <p:nvPicPr>
          <p:cNvPr id="13" name="Picture 12">
            <a:extLst>
              <a:ext uri="{FF2B5EF4-FFF2-40B4-BE49-F238E27FC236}">
                <a16:creationId xmlns:a16="http://schemas.microsoft.com/office/drawing/2014/main" id="{FB9E2BD0-FBEC-13EB-6010-0658653BA911}"/>
              </a:ext>
            </a:extLst>
          </p:cNvPr>
          <p:cNvPicPr>
            <a:picLocks noChangeAspect="1"/>
          </p:cNvPicPr>
          <p:nvPr/>
        </p:nvPicPr>
        <p:blipFill>
          <a:blip r:embed="rId6"/>
          <a:stretch>
            <a:fillRect/>
          </a:stretch>
        </p:blipFill>
        <p:spPr>
          <a:xfrm>
            <a:off x="5774403" y="3818965"/>
            <a:ext cx="6039693" cy="2878938"/>
          </a:xfrm>
          <a:prstGeom prst="rect">
            <a:avLst/>
          </a:prstGeom>
        </p:spPr>
      </p:pic>
    </p:spTree>
    <p:extLst>
      <p:ext uri="{BB962C8B-B14F-4D97-AF65-F5344CB8AC3E}">
        <p14:creationId xmlns:p14="http://schemas.microsoft.com/office/powerpoint/2010/main" val="3969996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299552" y="502023"/>
            <a:ext cx="9875463" cy="613702"/>
          </a:xfrm>
        </p:spPr>
        <p:txBody>
          <a:bodyPr/>
          <a:lstStyle/>
          <a:p>
            <a:pPr algn="ctr"/>
            <a:r>
              <a:rPr lang="en-US" dirty="0"/>
              <a:t>KEY TAKEAWAY</a:t>
            </a: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11</a:t>
            </a:fld>
            <a:endParaRPr lang="en-US" dirty="0"/>
          </a:p>
        </p:txBody>
      </p:sp>
      <p:sp>
        <p:nvSpPr>
          <p:cNvPr id="6" name="TextBox 5">
            <a:extLst>
              <a:ext uri="{FF2B5EF4-FFF2-40B4-BE49-F238E27FC236}">
                <a16:creationId xmlns:a16="http://schemas.microsoft.com/office/drawing/2014/main" id="{12B9F5B7-E4A6-B94A-6925-9D1F22CA50EF}"/>
              </a:ext>
            </a:extLst>
          </p:cNvPr>
          <p:cNvSpPr txBox="1"/>
          <p:nvPr/>
        </p:nvSpPr>
        <p:spPr>
          <a:xfrm>
            <a:off x="1658471" y="1622611"/>
            <a:ext cx="9606191" cy="2246769"/>
          </a:xfrm>
          <a:prstGeom prst="rect">
            <a:avLst/>
          </a:prstGeom>
          <a:noFill/>
        </p:spPr>
        <p:txBody>
          <a:bodyPr wrap="square" rtlCol="0">
            <a:spAutoFit/>
          </a:bodyPr>
          <a:lstStyle/>
          <a:p>
            <a:r>
              <a:rPr lang="en-US" sz="2000" dirty="0"/>
              <a:t>The key takeaways of this FMCG Sales Analysis project are that fast-moving products contribute the most to overall revenue and require strong inventory control, a limited number of top products generate a major share of sales, store-level performance differs and needs location-specific strategies, demand patterns and seasonal trends are crucial for accurate forecasting and promotions, and data-driven KPIs help businesses improve stock management, sales efficiency, and overall decision-making in the FMCG sector.</a:t>
            </a:r>
          </a:p>
          <a:p>
            <a:endParaRPr lang="en-IN" sz="2000" dirty="0"/>
          </a:p>
        </p:txBody>
      </p:sp>
    </p:spTree>
    <p:extLst>
      <p:ext uri="{BB962C8B-B14F-4D97-AF65-F5344CB8AC3E}">
        <p14:creationId xmlns:p14="http://schemas.microsoft.com/office/powerpoint/2010/main" val="2498021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4473389" y="2554941"/>
            <a:ext cx="3917576" cy="663962"/>
          </a:xfrm>
        </p:spPr>
        <p:txBody>
          <a:bodyPr/>
          <a:lstStyle/>
          <a:p>
            <a:r>
              <a:rPr lang="en-US" sz="4000" u="sng" dirty="0"/>
              <a:t>Thank 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{FB35BEDE-EE0B-42B2-A4DD-8C602145717E}tf78438558_win32</Template>
  <TotalTime>76</TotalTime>
  <Words>344</Words>
  <Application>Microsoft Office PowerPoint</Application>
  <PresentationFormat>Widescreen</PresentationFormat>
  <Paragraphs>53</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Black</vt:lpstr>
      <vt:lpstr>Calibri</vt:lpstr>
      <vt:lpstr>Sabon Next LT</vt:lpstr>
      <vt:lpstr>Wingdings</vt:lpstr>
      <vt:lpstr>Custom</vt:lpstr>
      <vt:lpstr>FMCG: FAST MOVING CONSUMER GOODS</vt:lpstr>
      <vt:lpstr>WHAT IS FMCG?</vt:lpstr>
      <vt:lpstr>TODAY’S AGENDA</vt:lpstr>
      <vt:lpstr>GROUP MEMBER DETAILS</vt:lpstr>
      <vt:lpstr>SUMMARY OF THE PROJECT</vt:lpstr>
      <vt:lpstr>KPI LIST</vt:lpstr>
      <vt:lpstr>Excel DAshboaRd</vt:lpstr>
      <vt:lpstr>Tableau dashboard</vt:lpstr>
      <vt:lpstr>POWER-BI DASHBOARD</vt:lpstr>
      <vt:lpstr>MY SQL SCRIPT FILE</vt:lpstr>
      <vt:lpstr>KEY TAKEAWAY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Mithun N</dc:creator>
  <cp:lastModifiedBy>Mithun N</cp:lastModifiedBy>
  <cp:revision>5</cp:revision>
  <dcterms:created xsi:type="dcterms:W3CDTF">2025-12-25T05:44:24Z</dcterms:created>
  <dcterms:modified xsi:type="dcterms:W3CDTF">2025-12-27T12:35:32Z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